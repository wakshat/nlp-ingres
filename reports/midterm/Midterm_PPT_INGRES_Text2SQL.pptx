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7" r:id="rId2"/>
    <p:sldId id="268" r:id="rId3"/>
    <p:sldId id="258" r:id="rId4"/>
    <p:sldId id="262" r:id="rId8"/>
    <p:sldId id="263" r:id="rId9"/>
    <p:sldId id="260" r:id="rId6"/>
    <p:sldId id="269" r:id="rId18"/>
    <p:sldId id="261" r:id="rId7"/>
    <p:sldId id="270" r:id="rId19"/>
    <p:sldId id="271" r:id="rId20"/>
    <p:sldId id="259" r:id="rId5"/>
    <p:sldId id="264" r:id="rId10"/>
    <p:sldId id="265" r:id="rId11"/>
    <p:sldId id="272" r:id="rId21"/>
    <p:sldId id="266" r:id="rId12"/>
    <p:sldId id="267" r:id="rId13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307" y="8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2C64D-FBFC-D0F6-6135-9006AF573E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A7C45-D7B4-8295-677D-6FD1BEB98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D72CD-8301-24C3-178D-DCF3A3134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887AD-1A4D-1077-844B-23AA2DD4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AE7F6-54A8-809B-46B0-CAF20CA57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06146378-D586-278C-818A-EFAE616059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0160"/>
          <a:stretch/>
        </p:blipFill>
        <p:spPr>
          <a:xfrm>
            <a:off x="0" y="6531678"/>
            <a:ext cx="12192068" cy="326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9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F0FE5-56C1-C2C5-E89A-9E41E755D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BFE23-8D32-E341-62C6-9177653AD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E34A5-CDCE-7D22-6952-07E6FB052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51326-72B5-9602-1E62-6BBD9196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3EC9A-44D5-86A7-19D5-71A5F2D3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83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C623-EFD4-CBF2-836B-278A1FFF1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67FB97-D0F0-F144-C26C-B485CD2DB1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E935B-13E4-643C-0BBD-EAB19BF1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9C0B0-61F2-039D-7C11-AB370281D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FFDB2-C7BC-21C3-BBF2-F35A21C0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531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A0CA-2E5B-BA80-44A2-02C17A66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BA96A-27B5-D643-D2D0-8308D6E89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6ED4D-1E20-D3FE-6AAA-0362101A0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7E5A4A-E56E-34E4-FD22-C02AD79AA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6E4F5-17CA-E1C4-0528-B078B399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C2C5D-2D51-A52D-D126-55204074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69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A17FB-E27E-E139-4E58-CD44CAF23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53AF5-E90D-9C08-7801-9FE8593A0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01A8A-2A8F-A333-A6E7-27A9190E0F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F03A8B-631E-254D-13FF-33902D120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0039E6-216F-246D-21EA-493B8C061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FC24D6-D676-AC97-61B6-6E83C41C6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736A2C-63F1-CC3A-6450-95C0B728A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19383-6E57-D179-DB08-C336A211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1218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F45B0-5507-E9C6-5D0A-7194B31FA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A8C074-1E6D-BE11-9786-3E65B882E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B62ECF-1078-DB98-D126-61392595F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79152C-F0C0-9D16-8BDD-AA5732C35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347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3E6D3-40A6-7E3B-5960-A66CBE3CF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50AAA1-08FA-5D91-69B1-3F6059235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50425-8E61-1524-E46F-6FBCD449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13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FAE46-203E-3D5C-090F-7FE35A098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1B2ED-2007-E390-FBD4-F5BD71B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8A9767-7DBC-4065-FB99-C6E71FB8FA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2A45A-6F80-624D-5089-144C17E67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2E1F73-D189-E848-7502-52A3036B8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CE0F1-44C6-B090-CBC4-297E3EF63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352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44768-54F4-C8C6-B784-F2FC1082C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4E2EE3-968C-FB78-2A8F-A134A4E4E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5B5117-3E1B-2130-E1EA-451B86E6E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ECF779-296F-5FCC-3334-A673259F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141BB-EC98-5A55-D6D8-65A54A3AF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F6932-0BF8-BB01-649A-68D4C335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019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697D3-30D4-4EF1-BBC2-E45C22B3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FDD437-4486-8D37-C693-7C329FC662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61A51-0838-1F37-ECDD-38CD40867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BDF75-7558-323B-F485-3E73AF5FD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40449-580B-C5B5-4FCB-8A529457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36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662B4-F0B8-29CC-571A-396BF2EC14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7D152F-755A-607D-F8A4-9FF1B386A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1C2B1-6B79-B4DB-A6CC-9797C8363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BE395-9F05-4252-17D2-BEFAB3E7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DF18C0-A939-0830-9AC1-F4319FAE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7185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2D7863-D969-AF3E-50B2-4F1D857F6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E68653-AB94-AED3-24F5-CD343B7625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1DA29-9882-528A-9740-8BF9841FE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E02AA-88AE-982B-D44A-BAC6F089C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1AAB4-7643-ADA8-48C0-209E3EDD5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42B2649B-1319-D276-F7C5-C58DF4B9010C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90160"/>
          <a:stretch/>
        </p:blipFill>
        <p:spPr>
          <a:xfrm>
            <a:off x="0" y="6531678"/>
            <a:ext cx="12192068" cy="326360"/>
          </a:xfrm>
          <a:prstGeom prst="rect">
            <a:avLst/>
          </a:prstGeom>
        </p:spPr>
      </p:pic>
      <p:pic>
        <p:nvPicPr>
          <p:cNvPr id="14" name="Picture 13" descr="A logo with text on it&#10;&#10;Description automatically generated">
            <a:extLst>
              <a:ext uri="{FF2B5EF4-FFF2-40B4-BE49-F238E27FC236}">
                <a16:creationId xmlns:a16="http://schemas.microsoft.com/office/drawing/2014/main" id="{B52A007F-CB24-A9D0-6429-B4FA367B57B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t="11346" b="18198"/>
          <a:stretch/>
        </p:blipFill>
        <p:spPr>
          <a:xfrm>
            <a:off x="10332524" y="135564"/>
            <a:ext cx="1714601" cy="1208030"/>
          </a:xfrm>
          <a:prstGeom prst="rect">
            <a:avLst/>
          </a:prstGeom>
        </p:spPr>
      </p:pic>
      <p:pic>
        <p:nvPicPr>
          <p:cNvPr id="15" name="Picture 14" descr="A black background with a black border&#10;&#10;Description automatically generated">
            <a:extLst>
              <a:ext uri="{FF2B5EF4-FFF2-40B4-BE49-F238E27FC236}">
                <a16:creationId xmlns:a16="http://schemas.microsoft.com/office/drawing/2014/main" id="{CBADE597-FB06-9B8B-68C8-BFA89221A0E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90160"/>
          <a:stretch/>
        </p:blipFill>
        <p:spPr>
          <a:xfrm>
            <a:off x="0" y="6531678"/>
            <a:ext cx="12192068" cy="32636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9D9E8D1-F6C9-EB2C-DD27-D047561C3F3C}"/>
              </a:ext>
            </a:extLst>
          </p:cNvPr>
          <p:cNvGrpSpPr/>
          <p:nvPr/>
        </p:nvGrpSpPr>
        <p:grpSpPr>
          <a:xfrm>
            <a:off x="9485964" y="5572125"/>
            <a:ext cx="2502372" cy="959553"/>
            <a:chOff x="3452776" y="3314721"/>
            <a:chExt cx="4443470" cy="170388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24FEBE4-915F-8056-1156-7F5ABB9E78DB}"/>
                </a:ext>
              </a:extLst>
            </p:cNvPr>
            <p:cNvGrpSpPr/>
            <p:nvPr/>
          </p:nvGrpSpPr>
          <p:grpSpPr>
            <a:xfrm>
              <a:off x="3452776" y="3314721"/>
              <a:ext cx="4443470" cy="1703882"/>
              <a:chOff x="3452775" y="3429000"/>
              <a:chExt cx="6135571" cy="2352731"/>
            </a:xfrm>
          </p:grpSpPr>
          <p:pic>
            <p:nvPicPr>
              <p:cNvPr id="19" name="Picture 18" descr="A hexagon with a letter a and a red ribbon&#10;&#10;Description automatically generated">
                <a:extLst>
                  <a:ext uri="{FF2B5EF4-FFF2-40B4-BE49-F238E27FC236}">
                    <a16:creationId xmlns:a16="http://schemas.microsoft.com/office/drawing/2014/main" id="{3A05AF82-33BC-2B06-5620-E11F0AD311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235615" y="3429000"/>
                <a:ext cx="2352731" cy="2352731"/>
              </a:xfrm>
              <a:prstGeom prst="rect">
                <a:avLst/>
              </a:prstGeom>
            </p:spPr>
          </p:pic>
          <p:pic>
            <p:nvPicPr>
              <p:cNvPr id="20" name="Picture 19" descr="A logo with a fireworks in the middle&#10;&#10;Description automatically generated">
                <a:extLst>
                  <a:ext uri="{FF2B5EF4-FFF2-40B4-BE49-F238E27FC236}">
                    <a16:creationId xmlns:a16="http://schemas.microsoft.com/office/drawing/2014/main" id="{332D25E3-F8F9-CC33-D18F-2FCD31165C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rcRect t="22718" b="27841"/>
              <a:stretch/>
            </p:blipFill>
            <p:spPr>
              <a:xfrm>
                <a:off x="3452775" y="3819612"/>
                <a:ext cx="3543338" cy="1751840"/>
              </a:xfrm>
              <a:prstGeom prst="rect">
                <a:avLst/>
              </a:prstGeom>
            </p:spPr>
          </p:pic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CB6500-B983-38B3-2B17-3A47CD38EA0A}"/>
                </a:ext>
              </a:extLst>
            </p:cNvPr>
            <p:cNvCxnSpPr/>
            <p:nvPr/>
          </p:nvCxnSpPr>
          <p:spPr>
            <a:xfrm>
              <a:off x="6043616" y="3729076"/>
              <a:ext cx="0" cy="871499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742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E59EF47-1AD3-4116-ED14-4A98E42D6F4E}"/>
              </a:ext>
            </a:extLst>
          </p:cNvPr>
          <p:cNvSpPr txBox="1"/>
          <p:nvPr/>
        </p:nvSpPr>
        <p:spPr>
          <a:xfrm>
            <a:off x="2895600" y="1981200"/>
            <a:ext cx="800178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Final</a:t>
            </a:r>
            <a:r>
              <a:rPr kumimoji="0" lang="en-US" sz="4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US" sz="4800" b="0" i="0" u="none" strike="noStrike" kern="1200" cap="none" spc="-5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Year</a:t>
            </a:r>
            <a:r>
              <a:rPr kumimoji="0" lang="en-US" sz="4800" b="0" i="0" u="none" strike="noStrike" kern="1200" cap="none" spc="-1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Project</a:t>
            </a:r>
            <a:r>
              <a:rPr kumimoji="0" lang="en-US" sz="4800" b="0" i="0" u="none" strike="noStrike" kern="1200" cap="none" spc="-1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 </a:t>
            </a:r>
            <a:r>
              <a:rPr kumimoji="0" lang="en-US" sz="48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(Midterm</a:t>
            </a:r>
            <a:r>
              <a:rPr kumimoji="0" lang="en-US" sz="4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) </a:t>
            </a:r>
            <a:r>
              <a:rPr kumimoji="0" lang="en-US" sz="4800" b="0" i="0" u="none" strike="noStrike" kern="1200" cap="none" spc="-3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July2026-</a:t>
            </a:r>
            <a:r>
              <a:rPr kumimoji="0" lang="en-US" sz="4800" b="0" i="0" u="none" strike="noStrike" kern="1200" cap="none" spc="-1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Calibri"/>
              </a:rPr>
              <a:t>December2026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2752D-B104-C879-B471-866B6C28C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1C892A2-033E-6896-E51A-93E0360CFD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ext cx="9300000" cy="0"/>
          </a:xfrm>
          <a:prstGeom prst="rect">
            <a:avLst/>
          </a:prstGeom>
        </p:spPr>
        <p:txBody>
          <a:bodyPr vert="horz" wrap="square" lIns="0" tIns="453186" rIns="0" bIns="0" rtlCol="0">
            <a:spAutoFit/>
          </a:bodyPr>
          <a:lstStyle/>
          <a:p>
            <a:r>
              <a:rPr sz="3000" b="1">
                <a:solidFill>
                  <a:srgbClr val="2E3A59"/>
                </a:solidFill>
                <a:latin typeface="Calibri"/>
              </a:rPr>
              <a:t>INGRES-Text2SQL: A Multilingual Natural-Language Interface to India's Groundwater Assessment Data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81C6695-02FB-EF2D-8E91-6C7A9EF6CDEC}"/>
              </a:ext>
            </a:extLst>
          </p:cNvPr>
          <p:cNvSpPr txBox="1"/>
          <p:nvPr/>
        </p:nvSpPr>
        <p:spPr>
          <a:xfrm>
            <a:off x="5942203" y="2743721"/>
            <a:ext cx="2642870" cy="93662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r>
              <a:rPr>
                <a:latin typeface="Calibri"/>
              </a:rPr>
              <a:t>Team Member(s):</a:t>
            </a:r>
          </a:p>
          <a:p>
            <a:r>
              <a:rPr>
                <a:latin typeface="Calibri"/>
              </a:rPr>
              <a:t>&lt;Name (Roll No.)&gt;</a:t>
            </a:r>
          </a:p>
          <a:p>
            <a:r>
              <a:rPr>
                <a:latin typeface="Calibri"/>
              </a:rPr>
              <a:t>&lt;Name (Roll No.)&gt;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503253B-3C36-9FE5-00ED-8F5845598793}"/>
              </a:ext>
            </a:extLst>
          </p:cNvPr>
          <p:cNvSpPr txBox="1"/>
          <p:nvPr/>
        </p:nvSpPr>
        <p:spPr>
          <a:xfrm>
            <a:off x="680110" y="2865882"/>
            <a:ext cx="290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>
                <a:latin typeface="Calibri"/>
              </a:rPr>
              <a:t>Supervisor(s): &lt;Name, Designation&gt;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0D54D06B-F0E1-4EC8-818F-EC93C5166F45}"/>
              </a:ext>
            </a:extLst>
          </p:cNvPr>
          <p:cNvSpPr txBox="1"/>
          <p:nvPr/>
        </p:nvSpPr>
        <p:spPr>
          <a:xfrm>
            <a:off x="4083177" y="5713577"/>
            <a:ext cx="35585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>
                <a:latin typeface="Calibri"/>
              </a:rPr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604550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68033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000"/>
            <a:ext cx="10515600" cy="4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1800" b="0">
                <a:latin typeface="Calibri"/>
              </a:rPr>
              <a:t>Groundwater supplies most of India's irrigation; CGWB assesses ~7,000 blocks / mandals / taluks every cycle (recharge, extraction, </a:t>
            </a:r>
            <a:r>
              <a:rPr sz="1800" b="1">
                <a:solidFill>
                  <a:srgbClr val="2E3A59"/>
                </a:solidFill>
                <a:latin typeface="Calibri"/>
              </a:rPr>
              <a:t>stage of extraction</a:t>
            </a:r>
            <a:r>
              <a:rPr sz="1800" b="0">
                <a:latin typeface="Calibri"/>
              </a:rPr>
              <a:t>, Safe to Over-Exploited category)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800" b="0">
                <a:latin typeface="Calibri"/>
              </a:rPr>
              <a:t>Results are published through </a:t>
            </a:r>
            <a:r>
              <a:rPr sz="1800" b="1">
                <a:solidFill>
                  <a:srgbClr val="2E3A59"/>
                </a:solidFill>
                <a:latin typeface="Calibri"/>
              </a:rPr>
              <a:t>INGRES</a:t>
            </a:r>
            <a:r>
              <a:rPr sz="1800" b="0">
                <a:latin typeface="Calibri"/>
              </a:rPr>
              <a:t> (CGWB + IIT Hyderabad): a GIS portal with maps and tables, English only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800" b="0">
                <a:latin typeface="Calibri"/>
              </a:rPr>
              <a:t>Real users ask questions like </a:t>
            </a:r>
            <a:r>
              <a:rPr sz="1800" b="1">
                <a:solidFill>
                  <a:srgbClr val="2E3A59"/>
                </a:solidFill>
                <a:latin typeface="Calibri"/>
              </a:rPr>
              <a:t>"Ludhiana ke kitne blocks over-exploited hain?"</a:t>
            </a:r>
            <a:r>
              <a:rPr sz="1800" b="0">
                <a:latin typeface="Calibri"/>
              </a:rPr>
              <a:t> or "Which Punjab blocks moved from Critical to Over-Exploited since 2022?"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800" b="1">
                <a:solidFill>
                  <a:srgbClr val="2E3A59"/>
                </a:solidFill>
                <a:latin typeface="Calibri"/>
              </a:rPr>
              <a:t>Text-to-SQL</a:t>
            </a:r>
            <a:r>
              <a:rPr sz="1800" b="0">
                <a:latin typeface="Calibri"/>
              </a:rPr>
              <a:t> can answer these, but research is English-centric: no benchmark or system covers Indian scripts, Hinglish or ambiguous Indian place names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800" b="0">
                <a:latin typeface="Calibri"/>
              </a:rPr>
              <a:t>This project: a </a:t>
            </a:r>
            <a:r>
              <a:rPr sz="1800" b="1">
                <a:solidFill>
                  <a:srgbClr val="2E3A59"/>
                </a:solidFill>
                <a:latin typeface="Calibri"/>
              </a:rPr>
              <a:t>multilingual (English, Hindi, Hinglish, Tamil) Text-to-SQL system over official INGRES data</a:t>
            </a:r>
            <a:r>
              <a:rPr sz="1800" b="0">
                <a:latin typeface="Calibri"/>
              </a:rPr>
              <a:t>, studied as research with a benchmark, baselines and ablations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Feasibility &amp; Expected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000"/>
            <a:ext cx="10515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Technical:</a:t>
            </a:r>
            <a:r>
              <a:rPr sz="1500" b="0">
                <a:latin typeface="Calibri"/>
              </a:rPr>
              <a:t> data access verified; 22 MB SQLite DB; CPU for retrieval, RTX 5060 (8 GB) for fine-tuning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Tools:</a:t>
            </a:r>
            <a:r>
              <a:rPr sz="1500" b="0">
                <a:latin typeface="Calibri"/>
              </a:rPr>
              <a:t> Python, SQLite, pandas, scikit-learn, sentence-transformers, multilingual-e5, Gemini API, Git/GitHub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Economic:</a:t>
            </a:r>
            <a:r>
              <a:rPr sz="1500" b="0">
                <a:latin typeface="Calibri"/>
              </a:rPr>
              <a:t> open-source tools, public data, free-tier LLM with on-disk caching; zero cost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Operational / schedule:</a:t>
            </a:r>
            <a:r>
              <a:rPr sz="1500" b="0">
                <a:latin typeface="Calibri"/>
              </a:rPr>
              <a:t> fully scripted, reproducible pipeline; riskiest phases (data, benchmark) already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3800000"/>
            <a:ext cx="9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Expected outcomes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sz="1300" b="0">
                <a:latin typeface="Calibri"/>
              </a:rPr>
              <a:t>Validated INGRES database and data-access report (achieved)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sz="1300" b="0">
                <a:latin typeface="Calibri"/>
              </a:rPr>
              <a:t>INGRES-Bench: first multilingual, code-mixed Text-to-SQL benchmark on Indian government data (achieved)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sz="1300" b="0">
                <a:latin typeface="Calibri"/>
              </a:rPr>
              <a:t>Measured contribution of each component via ablations, including negative results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sz="1300" b="0">
                <a:latin typeface="Calibri"/>
              </a:rPr>
              <a:t>Working read-only prototype with SQL, result, grounded answer and cross-year caveats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Literature Survey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690000"/>
          <a:ext cx="10515599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3665"/>
                <a:gridCol w="3862873"/>
                <a:gridCol w="3219061"/>
              </a:tblGrid>
              <a:tr h="380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Work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Approach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Limitation for our setting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Spider (Yu et al., EMNLP 2018)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Cross-domain Text-to-SQL benchmark, 200 databases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English only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BIRD (Li et al., NeurIPS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Large benchmark with dirty values, external knowledge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English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RAT-SQL (ACL 2020), RESDSQL (AAAI 2023)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Schema-aware encoders; decoupled schema linking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Trained on English questions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DIN-SQL (NeurIPS 2023), DAIL-SQL (PVLDB 2024)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LLM prompting, decomposition, self-correction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English only; decomposes every question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MAC-SQL (COLING 2025), CHESS (2024)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Multi-agent / pipeline LLM systems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Cost; per-question-type benefit not isolated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CSpider (EMNLP 2019), MultiSpider (AAAI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Translated multilingual Text-to-SQL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No Indian scripts, no code-mixing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Petrov et al. (NeurIPS 2023), Rust et al. (ACL 2021)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Tokenizer fertility / unfairness across languages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Not linked to Text-to-SQL accuracy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GLUECoS (ACL 2020), CMI (LREC 2016)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Code-switched NLP benchmark; code-mixing 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No semantic parsing task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FActScore (EMNLP 2023), hallucination survey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Measuring unsupported facts in generated text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02020"/>
                          </a:solidFill>
                          <a:latin typeface="Calibri"/>
                        </a:rPr>
                        <a:t>Not for numbers derived from SQL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000"/>
            <a:ext cx="10515600" cy="4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No multilingual benchmark on Indian public data:</a:t>
            </a:r>
            <a:r>
              <a:rPr sz="1600" b="0">
                <a:latin typeface="Calibri"/>
              </a:rPr>
              <a:t> no Text-to-SQL benchmark covers Hindi, Hinglish or a Dravidian language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Cross-script schema linking fails:</a:t>
            </a:r>
            <a:r>
              <a:rPr sz="1600" b="0">
                <a:latin typeface="Calibri"/>
              </a:rPr>
              <a:t> our baselines show BM25 recall@3 of ~0.01 for Hindi and Tamil script vs 0.45 for English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Ambiguous, inconsistently spelled places:</a:t>
            </a:r>
            <a:r>
              <a:rPr sz="1600" b="0">
                <a:latin typeface="Calibri"/>
              </a:rPr>
              <a:t> 169 unit names are shared across states ('Ramnagar' x10); INGRES itself respells units across cycles (NOWGAON to NOWGONG)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Unsafe cross-year joins:</a:t>
            </a:r>
            <a:r>
              <a:rPr sz="1600" b="0">
                <a:latin typeface="Calibri"/>
              </a:rPr>
              <a:t> INGRES re-issues unit IDs, and some states changed the unit type (Tamil Nadu firka to taluk)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Unverified numbers in LLM answers</a:t>
            </a:r>
            <a:r>
              <a:rPr sz="1600" b="0">
                <a:latin typeface="Calibri"/>
              </a:rPr>
              <a:t>, which is unacceptable for policy data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The benefit of agents is not isolated</a:t>
            </a:r>
            <a:r>
              <a:rPr sz="1600" b="0">
                <a:latin typeface="Calibri"/>
              </a:rPr>
              <a:t> by question type; they add cost and latency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0">
                <a:latin typeface="Calibri"/>
              </a:rPr>
              <a:t>How we address them: INGRES-Bench, learned schema linker, entity resolver, crosswalk + caveats, grounding verifier, targeted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368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000"/>
            <a:ext cx="10515600" cy="4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2000" b="0">
                <a:latin typeface="Calibri"/>
              </a:rPr>
              <a:t>Design, build and evaluate a natural-language interface that converts questions about India's groundwater assessments, written in </a:t>
            </a:r>
            <a:r>
              <a:rPr sz="2000" b="1">
                <a:solidFill>
                  <a:srgbClr val="2E3A59"/>
                </a:solidFill>
                <a:latin typeface="Calibri"/>
              </a:rPr>
              <a:t>English, Hindi, romanised Hinglish or Tamil</a:t>
            </a:r>
            <a:r>
              <a:rPr sz="2000" b="0">
                <a:latin typeface="Calibri"/>
              </a:rPr>
              <a:t>, into </a:t>
            </a:r>
            <a:r>
              <a:rPr sz="2000" b="1">
                <a:solidFill>
                  <a:srgbClr val="2E3A59"/>
                </a:solidFill>
                <a:latin typeface="Calibri"/>
              </a:rPr>
              <a:t>correct and safe SQL</a:t>
            </a:r>
            <a:r>
              <a:rPr sz="2000" b="0">
                <a:latin typeface="Calibri"/>
              </a:rPr>
              <a:t> over the official INGRES data, and returns answers whose </a:t>
            </a:r>
            <a:r>
              <a:rPr sz="2000" b="1">
                <a:solidFill>
                  <a:srgbClr val="2E3A59"/>
                </a:solidFill>
                <a:latin typeface="Calibri"/>
              </a:rPr>
              <a:t>numbers are grounded in the query result</a:t>
            </a:r>
            <a:r>
              <a:rPr sz="2000" b="0">
                <a:latin typeface="Calibri"/>
              </a:rPr>
              <a:t>.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2000" b="0">
                <a:latin typeface="Calibri"/>
              </a:rPr>
              <a:t>Measure, by </a:t>
            </a:r>
            <a:r>
              <a:rPr sz="2000" b="1">
                <a:solidFill>
                  <a:srgbClr val="2E3A59"/>
                </a:solidFill>
                <a:latin typeface="Calibri"/>
              </a:rPr>
              <a:t>execution accuracy</a:t>
            </a:r>
            <a:r>
              <a:rPr sz="2000" b="0">
                <a:latin typeface="Calibri"/>
              </a:rPr>
              <a:t> on a purpose-built benchmark, how much each component contributes: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sz="1800" b="0">
                <a:latin typeface="Calibri"/>
              </a:rPr>
              <a:t>schema linking across scripts   - geographic entity resolution   - tokenizer adaptation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sz="1800" b="0">
                <a:latin typeface="Calibri"/>
              </a:rPr>
              <a:t>numeric grounding verification   - agentic decomposition for multi-step questions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2000" b="0">
                <a:latin typeface="Calibri"/>
              </a:rPr>
              <a:t>Handle </a:t>
            </a:r>
            <a:r>
              <a:rPr sz="2000" b="1">
                <a:solidFill>
                  <a:srgbClr val="2E3A59"/>
                </a:solidFill>
                <a:latin typeface="Calibri"/>
              </a:rPr>
              <a:t>code-mixed and noisy input</a:t>
            </a:r>
            <a:r>
              <a:rPr sz="2000" b="0">
                <a:latin typeface="Calibri"/>
              </a:rPr>
              <a:t> and </a:t>
            </a:r>
            <a:r>
              <a:rPr sz="2000" b="1">
                <a:solidFill>
                  <a:srgbClr val="2E3A59"/>
                </a:solidFill>
                <a:latin typeface="Calibri"/>
              </a:rPr>
              <a:t>historical comparisons across assessment cycles</a:t>
            </a:r>
            <a:r>
              <a:rPr sz="2000" b="0">
                <a:latin typeface="Calibri"/>
              </a:rPr>
              <a:t> with methodology caveats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000"/>
            <a:ext cx="10515600" cy="4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O1</a:t>
            </a:r>
            <a:r>
              <a:rPr sz="1600" b="0">
                <a:latin typeface="Calibri"/>
              </a:rPr>
              <a:t> Validated, reproducible database of official INGRES assessments for 5 cycles  ✔ done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O2</a:t>
            </a:r>
            <a:r>
              <a:rPr sz="1600" b="0">
                <a:latin typeface="Calibri"/>
              </a:rPr>
              <a:t> INGRES-Bench: multilingual Text-to-SQL benchmark with leakage-free splits and a hard test set  ✔ done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O3</a:t>
            </a:r>
            <a:r>
              <a:rPr sz="1600" b="0">
                <a:latin typeface="Calibri"/>
              </a:rPr>
              <a:t> Baselines: keyword/template, BM25, multilingual embeddings, frontier LLM  (in progress)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O4</a:t>
            </a:r>
            <a:r>
              <a:rPr sz="1600" b="0">
                <a:latin typeface="Calibri"/>
              </a:rPr>
              <a:t> Learned multilingual schema linker with hard negatives (recall@k, MRR per language)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O5</a:t>
            </a:r>
            <a:r>
              <a:rPr sz="1600" b="0">
                <a:latin typeface="Calibri"/>
              </a:rPr>
              <a:t> Hierarchical geographic entity resolver for misspelled, transliterated and ambiguous names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O6</a:t>
            </a:r>
            <a:r>
              <a:rPr sz="1600" b="0">
                <a:latin typeface="Calibri"/>
              </a:rPr>
              <a:t> Tokenizer fertility and code-mixing study: link to accuracy; compare translation vs direct vs vocabulary adaptation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O7</a:t>
            </a:r>
            <a:r>
              <a:rPr sz="1600" b="0">
                <a:latin typeface="Calibri"/>
              </a:rPr>
              <a:t> Numeric grounding verifier: every number in an answer traced to the SQL result (pass / regenerate / abstain)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600" b="1">
                <a:solidFill>
                  <a:srgbClr val="2E3A59"/>
                </a:solidFill>
                <a:latin typeface="Calibri"/>
              </a:rPr>
              <a:t>O8</a:t>
            </a:r>
            <a:r>
              <a:rPr sz="1600" b="0">
                <a:latin typeface="Calibri"/>
              </a:rPr>
              <a:t> Single-shot vs agentic decomposition: accuracy, SQL calls, latency, cost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Project Timeline (Gantt Chart)</a:t>
            </a:r>
          </a:p>
        </p:txBody>
      </p:sp>
      <p:pic>
        <p:nvPicPr>
          <p:cNvPr id="3" name="Picture 2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538" y="1690000"/>
            <a:ext cx="9576923" cy="415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Responsibility Chart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690000"/>
          <a:ext cx="10515596" cy="3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9952"/>
                <a:gridCol w="1546411"/>
                <a:gridCol w="1546411"/>
                <a:gridCol w="1546411"/>
                <a:gridCol w="1546411"/>
              </a:tblGrid>
              <a:tr h="38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Task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&lt;Member 1&gt;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&lt;Member 2&gt;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&lt;Member 3&gt;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&lt;Member 4&gt;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Data access, crawling and audit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Canonical database and crosswalk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INGRES-Bench construction and QC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Baselines and evaluation harness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Schema linking and tokenization study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Entity resolution and numeric grounding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Agent, UI and documentation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02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900000"/>
            <a:ext cx="86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060"/>
                </a:solidFill>
                <a:latin typeface="Calibri"/>
              </a:rPr>
              <a:t>R = responsible, A = accountable, C = consulted, I = informed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0452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Annexure</a:t>
            </a:r>
            <a:r>
              <a:rPr sz="4400" spc="-220" dirty="0"/>
              <a:t> </a:t>
            </a:r>
            <a:r>
              <a:rPr sz="4400" spc="-50" dirty="0"/>
              <a:t>I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6939" y="1777949"/>
            <a:ext cx="94221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sz="3600" dirty="0">
                <a:latin typeface="Times New Roman"/>
                <a:cs typeface="Times New Roman"/>
              </a:rPr>
              <a:t>Front page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of plagiarism</a:t>
            </a:r>
            <a:r>
              <a:rPr sz="3600" spc="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report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provided</a:t>
            </a:r>
            <a:r>
              <a:rPr sz="3600" spc="1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by </a:t>
            </a:r>
            <a:r>
              <a:rPr sz="3600" spc="-10" dirty="0">
                <a:latin typeface="Times New Roman"/>
                <a:cs typeface="Times New Roman"/>
              </a:rPr>
              <a:t>guide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Annexure</a:t>
            </a:r>
            <a:r>
              <a:rPr spc="-190" dirty="0"/>
              <a:t> </a:t>
            </a:r>
            <a:r>
              <a:rPr spc="-25" dirty="0"/>
              <a:t>II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189"/>
            <a:ext cx="74072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Screenshot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mentor’s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mail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/comments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Guide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Existing Systems &amp;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690000"/>
          <a:ext cx="10515597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4201"/>
                <a:gridCol w="1640047"/>
                <a:gridCol w="1736521"/>
                <a:gridCol w="1929467"/>
                <a:gridCol w="2315361"/>
              </a:tblGrid>
              <a:tr h="380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INGRES portal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English Text-to-SQL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Multilingual (MultiSpider)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Proposed</a:t>
                      </a:r>
                    </a:p>
                  </a:txBody>
                  <a:tcPr>
                    <a:solidFill>
                      <a:srgbClr val="2E3A59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Natural-language questions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Indian languages / scripts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Hindi, Tamil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Hinglish (romanised code-mixed)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Ambiguous place names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Manual navigation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Not addressed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Not addressed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Gazetteer + context resolver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Cross-year comparison with caveats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Manual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Crosswalk + caveats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Numbers verified against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Rarely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Grounding verifier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Public benchmark / evaluation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INGRES-Bench</a:t>
                      </a:r>
                    </a:p>
                  </a:txBody>
                  <a:tcPr>
                    <a:solidFill>
                      <a:srgbClr val="F3F4F7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Official government 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0202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900000"/>
            <a:ext cx="8600000" cy="35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06060"/>
                </a:solidFill>
                <a:latin typeface="Calibri"/>
              </a:rPr>
              <a:t>Public INGRES chatbot prototypes we inspected do not document their data source or report any evaluation.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Proposed Methodology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871" y="1690000"/>
            <a:ext cx="8032258" cy="415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Work Completed (Mid-term)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000"/>
            <a:ext cx="5200000" cy="4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Data access:</a:t>
            </a:r>
            <a:r>
              <a:rPr sz="1500" b="0">
                <a:latin typeface="Calibri"/>
              </a:rPr>
              <a:t> found INGRES's public JSON endpoint; crawled 5,299 responses with 0 failures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Database:</a:t>
            </a:r>
            <a:r>
              <a:rPr sz="1500" b="0">
                <a:latin typeface="Calibri"/>
              </a:rPr>
              <a:t> 5 cycles (GWRA 2020, 2022-2025); national totals match PIB figures within 0.1% (automated test)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Crosswalk:</a:t>
            </a:r>
            <a:r>
              <a:rPr sz="1500" b="0">
                <a:latin typeface="Calibri"/>
              </a:rPr>
              <a:t> links units across cycles despite re-issued IDs; fuzzy links 37/40 correct on manual check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INGRES-Bench v1:</a:t>
            </a:r>
            <a:r>
              <a:rPr sz="1500" b="0">
                <a:latin typeface="Calibri"/>
              </a:rPr>
              <a:t> 371 items x 4 languages = 1,484 NL-SQL pairs; 0 QC failures on 8 checks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Baselines:</a:t>
            </a:r>
            <a:r>
              <a:rPr sz="1500" b="0">
                <a:latin typeface="Calibri"/>
              </a:rPr>
              <a:t> keyword/template EX 38.8%; schema recall@3: BM25 0.267, mE5 0.409 (random 0.028)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1">
                <a:solidFill>
                  <a:srgbClr val="2E3A59"/>
                </a:solidFill>
                <a:latin typeface="Calibri"/>
              </a:rPr>
              <a:t>Safety:</a:t>
            </a:r>
            <a:r>
              <a:rPr sz="1500" b="0">
                <a:latin typeface="Calibri"/>
              </a:rPr>
              <a:t> read-only SQL executor; 13 injection / write tests pass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500" b="0">
                <a:latin typeface="Calibri"/>
              </a:rPr>
              <a:t>Code: </a:t>
            </a:r>
            <a:r>
              <a:rPr sz="1500" b="1">
                <a:solidFill>
                  <a:srgbClr val="2E3A59"/>
                </a:solidFill>
                <a:latin typeface="Calibri"/>
              </a:rPr>
              <a:t>github.com/WAkshat/NLP-INGRES</a:t>
            </a:r>
          </a:p>
        </p:txBody>
      </p:sp>
      <p:pic>
        <p:nvPicPr>
          <p:cNvPr id="4" name="Picture 3" descr="baseline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000" y="1690000"/>
            <a:ext cx="5300000" cy="194333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E3A59"/>
                </a:solidFill>
                <a:latin typeface="Calibri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690000"/>
            <a:ext cx="10515600" cy="41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Yu et al., Spider, EMNLP 2018  |  Li et al., BIRD, NeurIPS 2023  |  Wang et al., RAT-SQL, ACL 2020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Pourreza &amp; Rafiei, DIN-SQL, NeurIPS 2023  |  Gao et al., DAIL-SQL, PVLDB 17(5) 2024  |  Li et al., RESDSQL, AAAI 2023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Min et al., CSpider, EMNLP-IJCNLP 2019  |  Dou et al., MultiSpider, AAAI 2023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Wang et al., MAC-SQL, COLING 2025  |  Talaei et al., CHESS, arXiv:2405.16755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Petrov et al., Tokenizer unfairness, NeurIPS 2023  |  Rust et al., How good is your tokenizer?, ACL 2021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Khanuja et al., GLUECoS, ACL 2020  |  Gambäck &amp; Das, Code-switching level, LREC 2016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Gala et al., IndicTrans2, TMLR 2023  |  Wang et al., Multilingual E5, arXiv:2402.05672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Robertson &amp; Zaragoza, BM25 and beyond, FnTIR 2009  |  Min et al., FActScore, EMNLP 2023  |  Ji et al., ACM CSUR 2023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sz="1400" b="0">
                <a:latin typeface="Calibri"/>
              </a:rPr>
              <a:t>CGWB, GEC-2015 report (2017)  |  PIB releases on Dynamic Ground Water Resources 2022-2025  |  INGRES portal, ingres.iith.ac.in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C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NCU" id="{D77F8998-9D2E-4581-9EE6-2BB0A8BDD257}" vid="{CDD0E6A5-B34C-4403-A1AE-724C8560EF8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NCU</Template>
  <TotalTime>1</TotalTime>
  <Words>85</Words>
  <Application>Microsoft Office PowerPoint</Application>
  <PresentationFormat>Widescreen</PresentationFormat>
  <Paragraphs>19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Arial MT</vt:lpstr>
      <vt:lpstr>Calibri</vt:lpstr>
      <vt:lpstr>Times New Roman</vt:lpstr>
      <vt:lpstr>NCU</vt:lpstr>
      <vt:lpstr>PowerPoint Presentation</vt:lpstr>
      <vt:lpstr>NAME OF THE PROJECT</vt:lpstr>
      <vt:lpstr>Description of the Broad Topic</vt:lpstr>
      <vt:lpstr>Feasibility Study</vt:lpstr>
      <vt:lpstr>Existing Solutions/Literature Review</vt:lpstr>
      <vt:lpstr>GAPS in existing solution/literature review</vt:lpstr>
      <vt:lpstr>Problem Statement</vt:lpstr>
      <vt:lpstr>Objectives</vt:lpstr>
      <vt:lpstr>GANTT Chart</vt:lpstr>
      <vt:lpstr>Responsibility Chart</vt:lpstr>
      <vt:lpstr>Annexure I</vt:lpstr>
      <vt:lpstr>Annexure II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Pankaj Srivastava</dc:creator>
  <cp:lastModifiedBy>kandacharam sneha</cp:lastModifiedBy>
  <cp:revision>4</cp:revision>
  <dcterms:created xsi:type="dcterms:W3CDTF">2024-09-13T05:13:03Z</dcterms:created>
  <dcterms:modified xsi:type="dcterms:W3CDTF">2026-09-02T05:45:28Z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2024-09-13T00:00:00Z</vt:filetime>
  </property>
  <property fmtid="{D5CDD505-2E9C-101B-9397-08002B2CF9AE}" pid="5" name="Producer">
    <vt:lpwstr>Microsoft® PowerPoint® for Microsoft 365</vt:lpwstr>
  </property>
</Properties>
</file>